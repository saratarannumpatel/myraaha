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4" r:id="rId2"/>
  </p:sldMasterIdLst>
  <p:sldIdLst>
    <p:sldId id="2147468953" r:id="rId3"/>
    <p:sldId id="2147469083" r:id="rId4"/>
    <p:sldId id="257" r:id="rId5"/>
    <p:sldId id="214746903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0"/>
  </p:normalViewPr>
  <p:slideViewPr>
    <p:cSldViewPr snapToGrid="0">
      <p:cViewPr varScale="1">
        <p:scale>
          <a:sx n="88" d="100"/>
          <a:sy n="88" d="100"/>
        </p:scale>
        <p:origin x="128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AD335D2-118F-D852-4B06-B451FBC38A5B}"/>
              </a:ext>
            </a:extLst>
          </p:cNvPr>
          <p:cNvSpPr txBox="1"/>
          <p:nvPr userDrawn="1"/>
        </p:nvSpPr>
        <p:spPr>
          <a:xfrm>
            <a:off x="0" y="6624320"/>
            <a:ext cx="2717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Copyright 2025 myRaah.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9210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Credential BG Bas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35"/>
          </p:nvPr>
        </p:nvSpPr>
        <p:spPr>
          <a:xfrm flipH="1">
            <a:off x="11617001" y="6537474"/>
            <a:ext cx="216084" cy="161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5CD2A06-52F0-484C-BC1F-D5E1DEE31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03" y="282534"/>
            <a:ext cx="11474082" cy="468730"/>
          </a:xfrm>
          <a:prstGeom prst="rect">
            <a:avLst/>
          </a:prstGeom>
        </p:spPr>
        <p:txBody>
          <a:bodyPr vert="horz" lIns="0" tIns="60944" rIns="0" bIns="0" rtlCol="0" anchor="ctr" anchorCtr="0">
            <a:noAutofit/>
          </a:bodyPr>
          <a:lstStyle>
            <a:lvl1pPr algn="l">
              <a:defRPr sz="3199"/>
            </a:lvl1pPr>
          </a:lstStyle>
          <a:p>
            <a:pPr lvl="0"/>
            <a:r>
              <a:rPr lang="en-US" dirty="0"/>
              <a:t>INSERT MAIN TITLE AT 36PT MIN 30PT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419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571C5-6A60-4236-B826-259C52D7CBB3}" type="datetimeFigureOut">
              <a:rPr lang="en-US"/>
              <a:pPr>
                <a:defRPr/>
              </a:pPr>
              <a:t>5/5/26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24276-CFD3-4432-8795-25864BDBA0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5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9763-8876-22AD-5DC4-9641FC12D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19EAF-2C1E-1E6B-EE4C-9556620D2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8A30D-3CB7-6104-4420-8B04F7A1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3B2A4-DBBF-4C89-3A9B-204E97AD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2E0E-1D30-02BC-EFC2-4A9EB55F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3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03A1-3CEA-F91D-EACC-C4C63A1E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986E-0478-389C-9F11-8DCDBCE3B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40AD1-0DEA-798A-8C9A-7E2FA6FE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EFAC6-5A1B-2B1C-199D-A8092F99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D9E9F-52EB-9390-9024-7BF61F69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6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0645-5AED-0B95-B749-85E617E1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A934F-58A2-5CEF-2D12-34083D5B1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3F3E5-73E3-3561-0B31-FA763EEAD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485A5-CBFC-9E18-7B12-8EFAE090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8A85-C591-2877-CF75-46CE05A2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4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0F13-1F35-4D38-AF07-A5EB9AA8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6D8F4-70C8-BA3A-AEAB-67B732A84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A0A10-BAF0-6AE3-0076-9FD459582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0E5D-0210-A655-BD57-D46E3298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56029-F3C5-D6E3-E7D9-A27014C4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DFA7C-C63E-2830-71D0-E9B068A4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1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6044-44BC-9730-7C8F-78700955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0AE93-B333-C783-B855-D5A2CA3C4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6FACA-4832-2A13-9363-1B5B42005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1EA914-4D41-6A94-7139-C3BFCD684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1A0F8-2B43-6893-0350-401D856C9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FE75BE-2EC0-A371-60C6-177B0BF1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63C37-9943-D501-1150-02B131F7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7FF04-C411-6E0E-78A0-F950B10E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1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AFA3-44C6-5C69-D200-E0C7C5FA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70A22-15ED-4CA1-AC27-30FDB0CB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E2A07-A335-A9CF-471C-52CAAF65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59E8D-4C1F-9DA1-8A9D-5B974A43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6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EBF53-D401-7DFC-2929-0DE78DEA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F653B-1ED3-24BA-0B1B-CDE8872E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CA5E4-7035-3CD7-F97E-CF9BAD70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0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03A9-D779-2E6A-4919-C4C8B71E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0990-1A22-BC5A-AAC7-B504B320A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BCBC4-4DB8-E635-FB6B-DE4B9A4A4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DD2C6-2F62-AA1C-A684-6513BEC1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E9872-9E35-97F7-8ECA-86EBB39C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62763-47AC-EDF7-40E5-0D2AA07A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58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857F-5C04-1CEF-7C97-39DF9D31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67CC54-21A5-840B-E4E0-77D30BFF8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08A17-F358-A12B-FA11-2947D093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50B7A-13FC-F332-19FE-79D084BF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A06FB-02E9-FAD8-2FF3-EF6B221B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5D32B-D113-57D5-F54F-4A35ABA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29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55B0-85A6-A0F5-0EA6-25D02BF1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5E558-59D0-B7F7-87DC-619D75D7B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AC6CA-23D4-4EE3-5ED0-7E70129D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15579-26EE-35EF-95A1-7FB88408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2DBC-03FF-28C5-B0B6-AE5532B4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7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CEF31-BAA4-BD61-2BD2-63D6CC8C1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21C60-A86C-8CD4-09F8-50DBEBA16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420A-1F7B-22D1-F8A0-9D52FA34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6B09C-1381-44A2-2EE2-52EABAF8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5B98-A77A-1AAD-5B90-B33B7BAB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82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AD335D2-118F-D852-4B06-B451FBC38A5B}"/>
              </a:ext>
            </a:extLst>
          </p:cNvPr>
          <p:cNvSpPr txBox="1"/>
          <p:nvPr userDrawn="1"/>
        </p:nvSpPr>
        <p:spPr>
          <a:xfrm>
            <a:off x="0" y="6624320"/>
            <a:ext cx="2717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Copyright 2025 myRaah.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7679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F0DCA-13D9-014B-9242-5CA021B7A6D9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C9277-4E54-3443-BF0E-76DDF3D5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08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1B40F-4828-784D-B0BC-EEF8F022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A6EA0-843C-C7F5-F36C-3A0CD30CF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11FA1-4BB2-616F-6636-CDAB600A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A5149-3874-8F41-B55D-560EDC46EEB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CCE80-ACD4-5191-89E7-5036EBB7A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80D07-C52C-53CB-5138-90F879AF7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61260E-9C53-2441-837E-D806160F3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1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754E-1A8C-ABB1-A59D-BC38FE71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A8501A-0F07-8D91-BCD5-DD9458BB0A17}"/>
              </a:ext>
            </a:extLst>
          </p:cNvPr>
          <p:cNvSpPr/>
          <p:nvPr/>
        </p:nvSpPr>
        <p:spPr>
          <a:xfrm>
            <a:off x="9192126" y="0"/>
            <a:ext cx="299987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pic>
        <p:nvPicPr>
          <p:cNvPr id="8" name="Picture 7" descr="A person and person holding books and a book&#10;&#10;AI-generated content may be incorrect.">
            <a:extLst>
              <a:ext uri="{FF2B5EF4-FFF2-40B4-BE49-F238E27FC236}">
                <a16:creationId xmlns:a16="http://schemas.microsoft.com/office/drawing/2014/main" id="{3AD03072-D6B8-02E1-8441-478960DF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71BA5F-6EC9-89D1-F3DE-3E3203361422}"/>
              </a:ext>
            </a:extLst>
          </p:cNvPr>
          <p:cNvCxnSpPr>
            <a:cxnSpLocks/>
          </p:cNvCxnSpPr>
          <p:nvPr/>
        </p:nvCxnSpPr>
        <p:spPr>
          <a:xfrm>
            <a:off x="9156857" y="639028"/>
            <a:ext cx="0" cy="188259"/>
          </a:xfrm>
          <a:prstGeom prst="line">
            <a:avLst/>
          </a:prstGeom>
          <a:ln w="571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29C5070-0433-D02D-2DFD-3D19E888FB1A}"/>
              </a:ext>
            </a:extLst>
          </p:cNvPr>
          <p:cNvSpPr txBox="1"/>
          <p:nvPr/>
        </p:nvSpPr>
        <p:spPr>
          <a:xfrm>
            <a:off x="471485" y="124591"/>
            <a:ext cx="4843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Career Library Workflow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15-March-2026</a:t>
            </a:r>
          </a:p>
        </p:txBody>
      </p:sp>
    </p:spTree>
    <p:extLst>
      <p:ext uri="{BB962C8B-B14F-4D97-AF65-F5344CB8AC3E}">
        <p14:creationId xmlns:p14="http://schemas.microsoft.com/office/powerpoint/2010/main" val="336705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A0F0C-8A01-31F2-6A17-3093D571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90D8EE-D811-B0F0-C4BD-B8E8A311F232}"/>
              </a:ext>
            </a:extLst>
          </p:cNvPr>
          <p:cNvSpPr/>
          <p:nvPr/>
        </p:nvSpPr>
        <p:spPr>
          <a:xfrm>
            <a:off x="0" y="6627714"/>
            <a:ext cx="2784141" cy="230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7D137-D45C-6948-2AD4-F89CA7588021}"/>
              </a:ext>
            </a:extLst>
          </p:cNvPr>
          <p:cNvSpPr txBox="1"/>
          <p:nvPr/>
        </p:nvSpPr>
        <p:spPr>
          <a:xfrm>
            <a:off x="-1" y="0"/>
            <a:ext cx="12192001" cy="369332"/>
          </a:xfrm>
          <a:prstGeom prst="rect">
            <a:avLst/>
          </a:prstGeom>
          <a:solidFill>
            <a:srgbClr val="A02B93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GETTING THE DATA AND BUILDING THE 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C270A-4689-4652-6086-8B96A6B63865}"/>
              </a:ext>
            </a:extLst>
          </p:cNvPr>
          <p:cNvSpPr txBox="1"/>
          <p:nvPr/>
        </p:nvSpPr>
        <p:spPr>
          <a:xfrm>
            <a:off x="206475" y="634180"/>
            <a:ext cx="1141525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Objective: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End to end automation of the ”Career Library” database workflow, so that it is maintainable and scalable on real time basis.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What is done so far: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Manually tested the workflow for few roles till generating the output from Claude.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What needs to be done: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 will have to build the “Role master” and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“Career Library” database. We need to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decide the type of database based on the future scopes.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4)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Automate the end-to-end workflow, including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5)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scheduling part. Can we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6)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 a knowledge graph from this for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B560D4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better visualizations?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How the information will be used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Students will be consuming this information using “Explore career pathway” and “Career Map” interface.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56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885E-2D2B-C76E-D53F-9328B13E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854535-43BF-A42C-390B-F34FEAAC8F6C}"/>
              </a:ext>
            </a:extLst>
          </p:cNvPr>
          <p:cNvSpPr/>
          <p:nvPr/>
        </p:nvSpPr>
        <p:spPr>
          <a:xfrm>
            <a:off x="2963020" y="1602955"/>
            <a:ext cx="1300162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436BC-4C0F-8820-9080-D07869B47EA1}"/>
              </a:ext>
            </a:extLst>
          </p:cNvPr>
          <p:cNvSpPr txBox="1"/>
          <p:nvPr/>
        </p:nvSpPr>
        <p:spPr>
          <a:xfrm>
            <a:off x="3120182" y="1602955"/>
            <a:ext cx="9858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Identify a role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1028A2-776E-3222-15AD-309AD8503B86}"/>
              </a:ext>
            </a:extLst>
          </p:cNvPr>
          <p:cNvSpPr/>
          <p:nvPr/>
        </p:nvSpPr>
        <p:spPr>
          <a:xfrm>
            <a:off x="5302876" y="1108946"/>
            <a:ext cx="414330" cy="1564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7322DF-4109-1371-451E-64D653D5C4AF}"/>
              </a:ext>
            </a:extLst>
          </p:cNvPr>
          <p:cNvCxnSpPr>
            <a:cxnSpLocks/>
          </p:cNvCxnSpPr>
          <p:nvPr/>
        </p:nvCxnSpPr>
        <p:spPr>
          <a:xfrm flipV="1">
            <a:off x="8654652" y="1859209"/>
            <a:ext cx="1866926" cy="1666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CA10BB3-1D06-E10B-2101-EA9392F257BD}"/>
              </a:ext>
            </a:extLst>
          </p:cNvPr>
          <p:cNvSpPr/>
          <p:nvPr/>
        </p:nvSpPr>
        <p:spPr>
          <a:xfrm>
            <a:off x="8549944" y="1688949"/>
            <a:ext cx="1197811" cy="371132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Populated Data for Fields</a:t>
            </a:r>
          </a:p>
        </p:txBody>
      </p:sp>
      <p:pic>
        <p:nvPicPr>
          <p:cNvPr id="48" name="Picture 4" descr="Purple microsoft word icon - Free ...">
            <a:extLst>
              <a:ext uri="{FF2B5EF4-FFF2-40B4-BE49-F238E27FC236}">
                <a16:creationId xmlns:a16="http://schemas.microsoft.com/office/drawing/2014/main" id="{8BB3976E-D821-730E-C515-0F07816F0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196" y="1410091"/>
            <a:ext cx="328610" cy="37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CE2E3B67-F952-417D-84E4-6654138AE50D}"/>
              </a:ext>
            </a:extLst>
          </p:cNvPr>
          <p:cNvSpPr/>
          <p:nvPr/>
        </p:nvSpPr>
        <p:spPr>
          <a:xfrm>
            <a:off x="10562536" y="1575838"/>
            <a:ext cx="1526701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CEBA00-1080-0A25-FF03-F15EB6C05C88}"/>
              </a:ext>
            </a:extLst>
          </p:cNvPr>
          <p:cNvSpPr txBox="1"/>
          <p:nvPr/>
        </p:nvSpPr>
        <p:spPr>
          <a:xfrm>
            <a:off x="10562535" y="1590185"/>
            <a:ext cx="15267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Extract data for each Field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8A9F83-FCA8-9DE4-91C3-30CCB9CBE5D1}"/>
              </a:ext>
            </a:extLst>
          </p:cNvPr>
          <p:cNvSpPr txBox="1"/>
          <p:nvPr/>
        </p:nvSpPr>
        <p:spPr>
          <a:xfrm>
            <a:off x="-1" y="0"/>
            <a:ext cx="12192001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GETTING THE DATA AND BUILDING THE DATABASE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856110C-8F8A-71B4-DCCA-568471C034EF}"/>
              </a:ext>
            </a:extLst>
          </p:cNvPr>
          <p:cNvCxnSpPr>
            <a:cxnSpLocks/>
          </p:cNvCxnSpPr>
          <p:nvPr/>
        </p:nvCxnSpPr>
        <p:spPr>
          <a:xfrm>
            <a:off x="11281092" y="2144183"/>
            <a:ext cx="0" cy="11872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D48FAF-E2EC-009C-8223-15B6B56A271A}"/>
              </a:ext>
            </a:extLst>
          </p:cNvPr>
          <p:cNvCxnSpPr>
            <a:cxnSpLocks/>
          </p:cNvCxnSpPr>
          <p:nvPr/>
        </p:nvCxnSpPr>
        <p:spPr>
          <a:xfrm>
            <a:off x="3938722" y="1888705"/>
            <a:ext cx="2564587" cy="7975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C67D04-421C-2BD6-A011-89457D3BAD43}"/>
              </a:ext>
            </a:extLst>
          </p:cNvPr>
          <p:cNvSpPr/>
          <p:nvPr/>
        </p:nvSpPr>
        <p:spPr>
          <a:xfrm>
            <a:off x="4612061" y="1717258"/>
            <a:ext cx="1527966" cy="328610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LLM I/P for the role</a:t>
            </a:r>
          </a:p>
        </p:txBody>
      </p:sp>
      <p:pic>
        <p:nvPicPr>
          <p:cNvPr id="11" name="Picture 4" descr="Purple microsoft word icon - Free ...">
            <a:extLst>
              <a:ext uri="{FF2B5EF4-FFF2-40B4-BE49-F238E27FC236}">
                <a16:creationId xmlns:a16="http://schemas.microsoft.com/office/drawing/2014/main" id="{97E16EA0-C7E0-CF55-D619-AAE451EF5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610" y="1455052"/>
            <a:ext cx="328610" cy="37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C04A11-4CD8-6F27-1867-63C7E2BF204E}"/>
              </a:ext>
            </a:extLst>
          </p:cNvPr>
          <p:cNvCxnSpPr>
            <a:cxnSpLocks/>
          </p:cNvCxnSpPr>
          <p:nvPr/>
        </p:nvCxnSpPr>
        <p:spPr>
          <a:xfrm flipV="1">
            <a:off x="6656897" y="1892280"/>
            <a:ext cx="1866926" cy="1666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96C039B-E4DC-6064-F3FA-50BA2F1224F6}"/>
              </a:ext>
            </a:extLst>
          </p:cNvPr>
          <p:cNvSpPr/>
          <p:nvPr/>
        </p:nvSpPr>
        <p:spPr>
          <a:xfrm>
            <a:off x="6518057" y="1604309"/>
            <a:ext cx="1300162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72389-58F5-1805-D489-A9D412C1AF31}"/>
              </a:ext>
            </a:extLst>
          </p:cNvPr>
          <p:cNvSpPr txBox="1"/>
          <p:nvPr/>
        </p:nvSpPr>
        <p:spPr>
          <a:xfrm>
            <a:off x="6658632" y="1722703"/>
            <a:ext cx="9858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Claude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A7B6F3-5FB3-6A19-8C7F-C07348C25590}"/>
              </a:ext>
            </a:extLst>
          </p:cNvPr>
          <p:cNvSpPr txBox="1"/>
          <p:nvPr/>
        </p:nvSpPr>
        <p:spPr>
          <a:xfrm>
            <a:off x="2871784" y="2368470"/>
            <a:ext cx="2063775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Replace the &lt;Role name&gt; with identified role one at a time in the input template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BA7BF1-F9A0-1CB6-E059-5B9F2E0FA4DC}"/>
              </a:ext>
            </a:extLst>
          </p:cNvPr>
          <p:cNvSpPr/>
          <p:nvPr/>
        </p:nvSpPr>
        <p:spPr>
          <a:xfrm>
            <a:off x="10521579" y="3339998"/>
            <a:ext cx="1526701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713CD9-8780-5A8E-6C19-169C11EEDA78}"/>
              </a:ext>
            </a:extLst>
          </p:cNvPr>
          <p:cNvSpPr txBox="1"/>
          <p:nvPr/>
        </p:nvSpPr>
        <p:spPr>
          <a:xfrm>
            <a:off x="10521578" y="3354345"/>
            <a:ext cx="15267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Form the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“Career Library” DB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8B5CF4-FB66-A1C9-5BA2-3C4299D993F0}"/>
              </a:ext>
            </a:extLst>
          </p:cNvPr>
          <p:cNvSpPr/>
          <p:nvPr/>
        </p:nvSpPr>
        <p:spPr>
          <a:xfrm>
            <a:off x="7447382" y="4848040"/>
            <a:ext cx="1526701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D26336-F553-9E73-3682-236031931594}"/>
              </a:ext>
            </a:extLst>
          </p:cNvPr>
          <p:cNvSpPr txBox="1"/>
          <p:nvPr/>
        </p:nvSpPr>
        <p:spPr>
          <a:xfrm>
            <a:off x="7447381" y="4862387"/>
            <a:ext cx="1526701" cy="55399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Explore “Career Pathways”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388533B-D6DF-6A98-5158-51EBBC127C8C}"/>
              </a:ext>
            </a:extLst>
          </p:cNvPr>
          <p:cNvCxnSpPr>
            <a:stCxn id="17" idx="2"/>
            <a:endCxn id="23" idx="3"/>
          </p:cNvCxnSpPr>
          <p:nvPr/>
        </p:nvCxnSpPr>
        <p:spPr>
          <a:xfrm rot="5400000">
            <a:off x="9513985" y="3368441"/>
            <a:ext cx="1231043" cy="2310847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8C34AB2-F5A8-2D06-3E3C-047EB7DB897E}"/>
              </a:ext>
            </a:extLst>
          </p:cNvPr>
          <p:cNvSpPr/>
          <p:nvPr/>
        </p:nvSpPr>
        <p:spPr>
          <a:xfrm>
            <a:off x="10521579" y="5742257"/>
            <a:ext cx="1526701" cy="9830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933789-B186-0FE0-222D-76CE263C15D6}"/>
              </a:ext>
            </a:extLst>
          </p:cNvPr>
          <p:cNvSpPr txBox="1"/>
          <p:nvPr/>
        </p:nvSpPr>
        <p:spPr>
          <a:xfrm>
            <a:off x="10521578" y="5786103"/>
            <a:ext cx="152670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Psychometric DB</a:t>
            </a:r>
          </a:p>
          <a:p>
            <a:pPr marL="144463" marR="0" lvl="0" indent="-144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Psychometric O/P</a:t>
            </a:r>
          </a:p>
          <a:p>
            <a:pPr marL="144463" marR="0" lvl="0" indent="-144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Interest points</a:t>
            </a:r>
          </a:p>
          <a:p>
            <a:pPr marL="144463" marR="0" lvl="0" indent="-1444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Aspirations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A23EF97-1EC9-FE1B-E7C2-2FF2EB5BFA38}"/>
              </a:ext>
            </a:extLst>
          </p:cNvPr>
          <p:cNvCxnSpPr>
            <a:cxnSpLocks/>
            <a:stCxn id="26" idx="1"/>
            <a:endCxn id="23" idx="2"/>
          </p:cNvCxnSpPr>
          <p:nvPr/>
        </p:nvCxnSpPr>
        <p:spPr>
          <a:xfrm rot="10800000">
            <a:off x="8210733" y="5416386"/>
            <a:ext cx="2310847" cy="817375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644693D-D845-21F0-16FC-26F699466819}"/>
              </a:ext>
            </a:extLst>
          </p:cNvPr>
          <p:cNvSpPr/>
          <p:nvPr/>
        </p:nvSpPr>
        <p:spPr>
          <a:xfrm>
            <a:off x="125512" y="697803"/>
            <a:ext cx="1300162" cy="328610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Role inventory</a:t>
            </a:r>
          </a:p>
        </p:txBody>
      </p:sp>
      <p:pic>
        <p:nvPicPr>
          <p:cNvPr id="38" name="Picture 2" descr="Purple excel icon - Free purple office ...">
            <a:extLst>
              <a:ext uri="{FF2B5EF4-FFF2-40B4-BE49-F238E27FC236}">
                <a16:creationId xmlns:a16="http://schemas.microsoft.com/office/drawing/2014/main" id="{1BB44361-30CA-8B43-A246-45D0D5CAD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724" y="510482"/>
            <a:ext cx="328610" cy="32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7DB7843-90C8-B1A5-EC5A-91B7A55B874E}"/>
              </a:ext>
            </a:extLst>
          </p:cNvPr>
          <p:cNvCxnSpPr>
            <a:cxnSpLocks/>
          </p:cNvCxnSpPr>
          <p:nvPr/>
        </p:nvCxnSpPr>
        <p:spPr>
          <a:xfrm flipV="1">
            <a:off x="1130682" y="1883187"/>
            <a:ext cx="1866926" cy="1666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8D73D30-EEE2-08E3-7140-4C22FB30A7A5}"/>
              </a:ext>
            </a:extLst>
          </p:cNvPr>
          <p:cNvSpPr/>
          <p:nvPr/>
        </p:nvSpPr>
        <p:spPr>
          <a:xfrm>
            <a:off x="125277" y="1602955"/>
            <a:ext cx="1300162" cy="57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A0B4B8-5B6B-95CC-AC34-AE1320918E3E}"/>
              </a:ext>
            </a:extLst>
          </p:cNvPr>
          <p:cNvSpPr txBox="1"/>
          <p:nvPr/>
        </p:nvSpPr>
        <p:spPr>
          <a:xfrm>
            <a:off x="125277" y="1602955"/>
            <a:ext cx="13001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Role Master DB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5C271D1-ACBC-BFBE-A9A8-5FAAD77376C7}"/>
              </a:ext>
            </a:extLst>
          </p:cNvPr>
          <p:cNvCxnSpPr>
            <a:stCxn id="37" idx="2"/>
            <a:endCxn id="42" idx="0"/>
          </p:cNvCxnSpPr>
          <p:nvPr/>
        </p:nvCxnSpPr>
        <p:spPr>
          <a:xfrm flipH="1">
            <a:off x="775358" y="1026413"/>
            <a:ext cx="235" cy="57654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ED52E08-C189-9D00-45B6-28A2239AA416}"/>
              </a:ext>
            </a:extLst>
          </p:cNvPr>
          <p:cNvSpPr txBox="1"/>
          <p:nvPr/>
        </p:nvSpPr>
        <p:spPr>
          <a:xfrm>
            <a:off x="1156724" y="2060081"/>
            <a:ext cx="32861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EE7E67-76ED-0530-8E90-737CD123BF68}"/>
              </a:ext>
            </a:extLst>
          </p:cNvPr>
          <p:cNvSpPr txBox="1"/>
          <p:nvPr/>
        </p:nvSpPr>
        <p:spPr>
          <a:xfrm>
            <a:off x="10362602" y="3735547"/>
            <a:ext cx="32861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B62B64-3485-3ECE-5002-75F1A2B3903C}"/>
              </a:ext>
            </a:extLst>
          </p:cNvPr>
          <p:cNvSpPr txBox="1"/>
          <p:nvPr/>
        </p:nvSpPr>
        <p:spPr>
          <a:xfrm>
            <a:off x="10247305" y="5568336"/>
            <a:ext cx="32861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9884ED-0E9A-40B9-329C-17887B6F3C0C}"/>
              </a:ext>
            </a:extLst>
          </p:cNvPr>
          <p:cNvSpPr txBox="1"/>
          <p:nvPr/>
        </p:nvSpPr>
        <p:spPr>
          <a:xfrm>
            <a:off x="1607574" y="697803"/>
            <a:ext cx="671954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File-1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DCC377-7E47-52A0-48C2-4334645B618B}"/>
              </a:ext>
            </a:extLst>
          </p:cNvPr>
          <p:cNvSpPr txBox="1"/>
          <p:nvPr/>
        </p:nvSpPr>
        <p:spPr>
          <a:xfrm>
            <a:off x="4884521" y="1235829"/>
            <a:ext cx="671954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File-3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05A540-973C-19F8-4404-CE3B631ECFB7}"/>
              </a:ext>
            </a:extLst>
          </p:cNvPr>
          <p:cNvSpPr txBox="1"/>
          <p:nvPr/>
        </p:nvSpPr>
        <p:spPr>
          <a:xfrm>
            <a:off x="8657887" y="1116139"/>
            <a:ext cx="671954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File-4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8C8947F-2947-FC5F-C2F0-BD6E89634E18}"/>
              </a:ext>
            </a:extLst>
          </p:cNvPr>
          <p:cNvSpPr/>
          <p:nvPr/>
        </p:nvSpPr>
        <p:spPr>
          <a:xfrm>
            <a:off x="1527099" y="1708938"/>
            <a:ext cx="1255506" cy="338554"/>
          </a:xfrm>
          <a:prstGeom prst="roundRect">
            <a:avLst>
              <a:gd name="adj" fmla="val 48925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LLM I/template</a:t>
            </a:r>
          </a:p>
        </p:txBody>
      </p:sp>
      <p:pic>
        <p:nvPicPr>
          <p:cNvPr id="59" name="Picture 4" descr="Purple microsoft word icon - Free ...">
            <a:extLst>
              <a:ext uri="{FF2B5EF4-FFF2-40B4-BE49-F238E27FC236}">
                <a16:creationId xmlns:a16="http://schemas.microsoft.com/office/drawing/2014/main" id="{96E83CE1-5E4B-1D72-F2FB-18BF38768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928" y="1456676"/>
            <a:ext cx="328610" cy="371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97EAAAD-81C8-7F37-5271-B9D3B741FC29}"/>
              </a:ext>
            </a:extLst>
          </p:cNvPr>
          <p:cNvSpPr txBox="1"/>
          <p:nvPr/>
        </p:nvSpPr>
        <p:spPr>
          <a:xfrm>
            <a:off x="1883974" y="2156671"/>
            <a:ext cx="671954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File-2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3729A7-784F-DFAC-1526-B9B3E1ADC86B}"/>
              </a:ext>
            </a:extLst>
          </p:cNvPr>
          <p:cNvSpPr txBox="1"/>
          <p:nvPr/>
        </p:nvSpPr>
        <p:spPr>
          <a:xfrm>
            <a:off x="42303" y="2499568"/>
            <a:ext cx="1712753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Role Inventory will have all the roles in the “Sector-Industry-Domain” hierarchy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5387E6E-FDCF-C5F8-E81F-F910513AA896}"/>
              </a:ext>
            </a:extLst>
          </p:cNvPr>
          <p:cNvSpPr/>
          <p:nvPr/>
        </p:nvSpPr>
        <p:spPr>
          <a:xfrm>
            <a:off x="-1" y="510482"/>
            <a:ext cx="10014156" cy="322506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EA3605-127F-F798-34B8-4F7D5180FCCE}"/>
              </a:ext>
            </a:extLst>
          </p:cNvPr>
          <p:cNvSpPr txBox="1"/>
          <p:nvPr/>
        </p:nvSpPr>
        <p:spPr>
          <a:xfrm>
            <a:off x="8021184" y="3339159"/>
            <a:ext cx="186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Manually tested</a:t>
            </a:r>
          </a:p>
        </p:txBody>
      </p:sp>
    </p:spTree>
    <p:extLst>
      <p:ext uri="{BB962C8B-B14F-4D97-AF65-F5344CB8AC3E}">
        <p14:creationId xmlns:p14="http://schemas.microsoft.com/office/powerpoint/2010/main" val="71542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5F7B-29B1-2434-8665-766FF59A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chair in a row of purple chairs&#10;&#10;AI-generated content may be incorrect.">
            <a:extLst>
              <a:ext uri="{FF2B5EF4-FFF2-40B4-BE49-F238E27FC236}">
                <a16:creationId xmlns:a16="http://schemas.microsoft.com/office/drawing/2014/main" id="{023D3FF4-0D0A-2FDF-C7E2-1F0E09A8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32" y="0"/>
            <a:ext cx="1222513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53A10D-9BDF-E934-4784-2A75BE0702FA}"/>
              </a:ext>
            </a:extLst>
          </p:cNvPr>
          <p:cNvSpPr/>
          <p:nvPr/>
        </p:nvSpPr>
        <p:spPr>
          <a:xfrm>
            <a:off x="-33132" y="2152593"/>
            <a:ext cx="12291390" cy="147873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16000"/>
                  <a:lumMod val="23000"/>
                </a:schemeClr>
              </a:gs>
              <a:gs pos="100000">
                <a:schemeClr val="bg1">
                  <a:lumMod val="65000"/>
                  <a:lumOff val="35000"/>
                  <a:alpha val="6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310CF9F-8276-5605-A3BD-583A8E4E7514}"/>
              </a:ext>
            </a:extLst>
          </p:cNvPr>
          <p:cNvSpPr txBox="1">
            <a:spLocks/>
          </p:cNvSpPr>
          <p:nvPr/>
        </p:nvSpPr>
        <p:spPr>
          <a:xfrm>
            <a:off x="239128" y="2146585"/>
            <a:ext cx="4625480" cy="11240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 Nova" panose="020B0604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46763202"/>
      </p:ext>
    </p:extLst>
  </p:cSld>
  <p:clrMapOvr>
    <a:masterClrMapping/>
  </p:clrMapOvr>
</p:sld>
</file>

<file path=ppt/theme/theme1.xml><?xml version="1.0" encoding="utf-8"?>
<a:theme xmlns:a="http://schemas.openxmlformats.org/drawingml/2006/main" name="3_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</Words>
  <Application>Microsoft Macintosh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Rockwell</vt:lpstr>
      <vt:lpstr>Wingdings</vt:lpstr>
      <vt:lpstr>3_Atlas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Mainak Basu</dc:creator>
  <cp:lastModifiedBy>Mainak Basu</cp:lastModifiedBy>
  <cp:revision>1</cp:revision>
  <dcterms:created xsi:type="dcterms:W3CDTF">2026-05-06T04:51:22Z</dcterms:created>
  <dcterms:modified xsi:type="dcterms:W3CDTF">2026-05-06T04:52:47Z</dcterms:modified>
</cp:coreProperties>
</file>